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0:00-0:15 (15 с)</a:t>
            </a:r>
          </a:p>
          <a:p>
            <a:r>
              <a:t>«Мы сделали рабочее место аналитика АБПВ. Каждое срабатывание разобрано по фактам: у факта есть время и поле данных, ИИ только пересказывает эти факты.»</a:t>
            </a:r>
          </a:p>
          <a:p>
            <a:r>
              <a:t>Кадр: 3D-сцена эпизода 3139_17_09#0595 (скриншот сайта, images/episode_3d.png).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0:15-0:40 (25 с)</a:t>
            </a:r>
          </a:p>
          <a:p>
            <a:r>
              <a:t>«Одна поездка вагона 7752 это до 106 тысяч строк CSV и отдельный JSON. Чтобы понять одно торможение, аналитик вручную сверяет два файла по времени, а видео под рукой нет.»</a:t>
            </a:r>
          </a:p>
          <a:p>
            <a:r>
              <a:t>Источники: docs/GUIDE.md, раздел «Зачем» (106 тыс. строк у 7752); ТЗ ГЭТ, слайд 2 («быстрого доступа к видеозаписи с камер нет»).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0:40-1:10 (30 с)</a:t>
            </a:r>
          </a:p>
          <a:p>
            <a:r>
              <a:t>«Первая находка: в JSON поля срабатываний m_*_act почти всегда No. Настоящие срабатывания лежат в CSV. Мы склеили CSV и JSON по времени: совпадение 100%, корреляция скорости 0,998. Итог: 510 тысяч точек, 15 поездок, 6 вагонов, 4 234 км.»</a:t>
            </a:r>
          </a:p>
          <a:p>
            <a:r>
              <a:t>Источники: ANALYSIS.md («Данные, на которых всё построено»), README.md («Данные»), /api/stats: km=4233.5, trips=15, wagons=6.</a:t>
            </a:r>
          </a:p>
          <a:p>
            <a:r>
              <a:t>Код: backend/ingest.py, backend/prepare.py.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1:10-1:45 (35 с)</a:t>
            </a:r>
          </a:p>
          <a:p>
            <a:r>
              <a:t>«На этих данных закрыты все пять этапов ТЗ. Найдено 13 357 эпизодов. Разбор в четырёх разделах, как в ТЗ. Дашборд с единым курсором. 2D-плеер. 3D едет по записанной скорости и тормозам, но положение объекта условное, поэтому этап 5 честно отмечаем как частичный.»</a:t>
            </a:r>
          </a:p>
          <a:p>
            <a:r>
              <a:t>Источники: /api/stats (09.10.2026): total=13357, critical=3602 (severity 2 и 3: 3248+354), by_kind: speed_limit 7244, danger 3099, traffic_light 2597, hard_brake 345, skid 72. ANALYSIS.md, таблица «Покрытие пяти этапов».</a:t>
            </a:r>
          </a:p>
          <a:p>
            <a:r>
              <a:t>Важно: 3 602 это все типы. На «Обзоре» по умолчанию скрыто ограничение скорости, там KPI 3 591. 3 099 в старых текстах это эпизоды по препятствию, а не важные.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1:45-2:20 (35 с)</a:t>
            </a:r>
          </a:p>
          <a:p>
            <a:r>
              <a:t>«Вот как выглядит факт: 22:28:47, подсистема препятствий запросила воздействие, поле danger_act. Причину пишем, только если её подтверждает поле, иначе "причина не установлена". Модель получает только этот список фактов и пересказывает его, каждое утверждение со временем и полем.»</a:t>
            </a:r>
          </a:p>
          <a:p>
            <a:r>
              <a:t>Факты: /api/episodes/3139_17_09%230595 (facts). Цитата модели: data/processed/narratives/3139_17_09~0595.v2.json, раздел «Как отреагировала система». Скриншоты для сверки: images/facts_reaction.png, images/ai_panel.png.</a:t>
            </a:r>
          </a:p>
          <a:p>
            <a:r>
              <a:t>Код: backend/events.py (факты), backend/api.py narrative(): в модель уходят только факты с полем, temperature 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2:20-4:20 (2:00), живой показ. План кликов:</a:t>
            </a:r>
          </a:p>
          <a:p>
            <a:r>
              <a:t>0:00-0:20 «Обзор»: KPI, карта, фильтр типов. «Весь парк: где и когда срабатывает система, на 100 км.»</a:t>
            </a:r>
          </a:p>
          <a:p>
            <a:r>
              <a:t>0:20-0:35 «С чего начать разбор», верхняя строка (17.09 22:28:34, Летний сад): автомобиль, 27 км/ч до 0, «критично».</a:t>
            </a:r>
          </a:p>
          <a:p>
            <a:r>
              <a:t>0:35-1:00 В «Реакция системы» нажать 22:28:47: курсор на графиках, карточке состояния и 3D. «Один курсор.»</a:t>
            </a:r>
          </a:p>
          <a:p>
            <a:r>
              <a:t>1:00-1:20 «2D», «К срабатыванию», пуск, 2×. Затем «Скачать ролик» (запись .webm идёт в реальном времени, оставить в фоне).</a:t>
            </a:r>
          </a:p>
          <a:p>
            <a:r>
              <a:t>1:20-1:45 «ИИ-анализ» в шапке эпизода: Jev (очередь разбора, да/нет) и связный разбор с полями. Ответ заранее в кеше.</a:t>
            </a:r>
          </a:p>
          <a:p>
            <a:r>
              <a:t>1:45-2:00 «Как пользоваться», переключатель EN.</a:t>
            </a:r>
          </a:p>
          <a:p>
            <a:r>
              <a:t>Если сломалось: «покажу на снимках», слайды B1-B5. API не отвечает: значок в трее, «Перезапустить серверы»; 3D зависла: вкладка 2D.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4:20-4:40 (20 с)</a:t>
            </a:r>
          </a:p>
          <a:p>
            <a:r>
              <a:t>«Чего в данных нет, мы показываем прямо в разборе: расстояния до объекта, порядка событий внутри секунды и детального JSON за весь период у части поездок.»</a:t>
            </a:r>
          </a:p>
          <a:p>
            <a:r>
              <a:t>Источники: docs/GUIDE.md «Чему верить и ограничения»; ANALYSIS.md «Известные слабые места».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4:40-5:00 (20 с)</a:t>
            </a:r>
          </a:p>
          <a:p>
            <a:r>
              <a:t>«Сервис готов к пилоту на выгрузках ГЭТ: загружаете CSV поездки, эпизоды появляются по мере нахождения. Есть приложение для Windows с ярлыком, RU и EN. Просим выгрузку с дистанцией до объекта, чтобы поставить объект на реальное место.»</a:t>
            </a:r>
          </a:p>
          <a:p>
            <a:r>
              <a:t>Источники: README.md («Запуск одним кликом»), docs/GUIDE.md сценарий 6, вкладка «Загрузка».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B1: запасной кадр демо на случай поломки. Скриншот сайта http://127.0.0.1:5173, 09.10.2026.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B2: запасной кадр демо на случай поломки. Скриншот сайта http://127.0.0.1:5173, 09.10.2026.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B3: запасной кадр демо на случай поломки. Скриншот сайта http://127.0.0.1:5173, 09.10.2026.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B4: запасной кадр демо на случай поломки. Скриншот сайта http://127.0.0.1:5173, 09.10.2026.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B5: запасной кадр демо на случай поломки. Скриншот сайта http://127.0.0.1:5173, 09.10.2026.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1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270000"/>
            <a:ext cx="6731000" cy="4318000"/>
          </a:xfrm>
          <a:prstGeom prst="roundRect">
            <a:avLst>
              <a:gd name="adj" fmla="val 5294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596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CFE3F6"/>
                </a:solidFill>
                <a:latin typeface="Montserrat"/>
              </a:rPr>
              <a:t>Хакатон | Задача ГЭТ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2095500"/>
            <a:ext cx="6096000" cy="215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900" b="1">
                <a:solidFill>
                  <a:srgbClr val="FFFFFF"/>
                </a:solidFill>
                <a:latin typeface="Montserrat"/>
              </a:rPr>
              <a:t>Каждое срабатывание АБПВ разобрано по фактам: у каждого факта есть время и поле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4635500"/>
            <a:ext cx="596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600" b="0">
                <a:solidFill>
                  <a:srgbClr val="FFFFFF"/>
                </a:solidFill>
                <a:latin typeface="Golos Text"/>
              </a:rPr>
              <a:t>Рабочее место аналитика бортовой системы</a:t>
            </a:r>
          </a:p>
          <a:p>
            <a:pPr algn="l">
              <a:lnSpc>
                <a:spcPct val="98000"/>
              </a:lnSpc>
            </a:pPr>
            <a:r>
              <a:rPr sz="1600" b="0">
                <a:solidFill>
                  <a:srgbClr val="FFFFFF"/>
                </a:solidFill>
                <a:latin typeface="Golos Text"/>
              </a:rPr>
              <a:t>для СПб ГУП «Горэлектротранс»</a:t>
            </a:r>
          </a:p>
        </p:txBody>
      </p:sp>
      <p:pic>
        <p:nvPicPr>
          <p:cNvPr id="9" name="Picture 8" descr="episode_3d_1180_200_660x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0" y="1270000"/>
            <a:ext cx="4191000" cy="43180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493000" y="57150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3D-реконструкция по записи, вагон 3139, 17.09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Одна поездка это до 106 тыс. строк и два файла: каждое торможение аналитик разбирает вручную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2159000"/>
            <a:ext cx="3556000" cy="29845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254000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600" b="1">
                <a:solidFill>
                  <a:srgbClr val="1D5FAF"/>
                </a:solidFill>
                <a:latin typeface="Montserrat"/>
              </a:rPr>
              <a:t>106 тыс.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3746500"/>
            <a:ext cx="29845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0">
                <a:solidFill>
                  <a:srgbClr val="0D2B4E"/>
                </a:solidFill>
                <a:latin typeface="Golos Text"/>
              </a:rPr>
              <a:t>строк CSV в одной поездке вагона 7752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159000"/>
            <a:ext cx="3556000" cy="29845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5500" y="254000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600" b="1">
                <a:solidFill>
                  <a:srgbClr val="1D5FAF"/>
                </a:solidFill>
                <a:latin typeface="Montserrat"/>
              </a:rPr>
              <a:t>2 файла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500" y="3746500"/>
            <a:ext cx="29845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0">
                <a:solidFill>
                  <a:srgbClr val="0D2B4E"/>
                </a:solidFill>
                <a:latin typeface="Golos Text"/>
              </a:rPr>
              <a:t>CSV и JSON сверяют по времени вручную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2159000"/>
            <a:ext cx="3556000" cy="298450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5500" y="254000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600" b="1">
                <a:solidFill>
                  <a:srgbClr val="1D5FAF"/>
                </a:solidFill>
                <a:latin typeface="Montserrat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5500" y="3746500"/>
            <a:ext cx="29845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0">
                <a:solidFill>
                  <a:srgbClr val="0D2B4E"/>
                </a:solidFill>
                <a:latin typeface="Golos Text"/>
              </a:rPr>
              <a:t>быстрого доступа к видео с камер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5397500"/>
            <a:ext cx="11176000" cy="825500"/>
          </a:xfrm>
          <a:prstGeom prst="roundRect">
            <a:avLst>
              <a:gd name="adj" fmla="val 15384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" y="5397500"/>
            <a:ext cx="10541000" cy="825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Нужно: найти срабатывание и проверить по данным, что произошло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Срабатывания записаны в CSV, а не в JSON: мы склеили два файла по времени в одну таблицу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2095500"/>
            <a:ext cx="3175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25425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1D5FAF"/>
                </a:solidFill>
                <a:latin typeface="Montserrat"/>
              </a:rPr>
              <a:t>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98750"/>
            <a:ext cx="279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600" b="0">
                <a:solidFill>
                  <a:srgbClr val="0D2B4E"/>
                </a:solidFill>
                <a:latin typeface="Golos Text"/>
              </a:rPr>
              <a:t>срабатывания, тормоза, рукоятки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" y="3556000"/>
            <a:ext cx="3175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714750"/>
            <a:ext cx="279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200" b="1">
                <a:solidFill>
                  <a:srgbClr val="1D5FAF"/>
                </a:solidFill>
                <a:latin typeface="Montserrat"/>
              </a:rPr>
              <a:t>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159250"/>
            <a:ext cx="279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600" b="0">
                <a:solidFill>
                  <a:srgbClr val="0D2B4E"/>
                </a:solidFill>
                <a:latin typeface="Golos Text"/>
              </a:rPr>
              <a:t>тип объекта, режим, предупреждение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10000" y="3175000"/>
            <a:ext cx="508000" cy="571500"/>
          </a:xfrm>
          <a:prstGeom prst="rightArrow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45000" y="2540000"/>
            <a:ext cx="2540000" cy="1841500"/>
          </a:xfrm>
          <a:prstGeom prst="roundRect">
            <a:avLst>
              <a:gd name="adj" fmla="val 8275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9000" y="2794000"/>
            <a:ext cx="2095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100" b="1">
                <a:solidFill>
                  <a:srgbClr val="FFFFFF"/>
                </a:solidFill>
                <a:latin typeface="Montserrat"/>
              </a:rPr>
              <a:t>Таблица поездки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9000" y="3683000"/>
            <a:ext cx="2095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0">
                <a:solidFill>
                  <a:srgbClr val="CFE3F6"/>
                </a:solidFill>
                <a:latin typeface="Golos Text"/>
              </a:rPr>
              <a:t>70+ полей,</a:t>
            </a:r>
          </a:p>
          <a:p>
            <a:pPr algn="l">
              <a:lnSpc>
                <a:spcPct val="98000"/>
              </a:lnSpc>
            </a:pPr>
            <a:r>
              <a:rPr sz="1500" b="0">
                <a:solidFill>
                  <a:srgbClr val="CFE3F6"/>
                </a:solidFill>
                <a:latin typeface="Golos Text"/>
              </a:rPr>
              <a:t>шаг по времени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5080000"/>
            <a:ext cx="64770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5080000"/>
            <a:ext cx="88900" cy="1143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00" y="5080000"/>
            <a:ext cx="5969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700" b="0">
                <a:solidFill>
                  <a:srgbClr val="0D2B4E"/>
                </a:solidFill>
                <a:latin typeface="Golos Text"/>
              </a:rPr>
              <a:t>Находка: в JSON поля </a:t>
            </a:r>
            <a:r>
              <a:rPr sz="1700" b="1">
                <a:solidFill>
                  <a:srgbClr val="0D2B4E"/>
                </a:solidFill>
                <a:latin typeface="Golos Text"/>
              </a:rPr>
              <a:t>m_*_act</a:t>
            </a:r>
            <a:r>
              <a:rPr sz="1700" b="0">
                <a:solidFill>
                  <a:srgbClr val="0D2B4E"/>
                </a:solidFill>
                <a:latin typeface="Golos Text"/>
              </a:rPr>
              <a:t> почти всегда «No», поэтому срабатывания берём из 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6000" y="2095500"/>
            <a:ext cx="43180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0" y="2095500"/>
            <a:ext cx="17780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3200" b="1">
                <a:solidFill>
                  <a:srgbClr val="1D5FAF"/>
                </a:solidFill>
                <a:latin typeface="Montserrat"/>
              </a:rPr>
              <a:t>510 тыс.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1500" y="2095500"/>
            <a:ext cx="20955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точек телеметрии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6000" y="3143250"/>
            <a:ext cx="43180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0" y="3143250"/>
            <a:ext cx="17780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3200" b="1">
                <a:solidFill>
                  <a:srgbClr val="1D5FAF"/>
                </a:solidFill>
                <a:latin typeface="Montserrat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1500" y="3143250"/>
            <a:ext cx="20955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поездок, 6 вагонов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6000" y="4191000"/>
            <a:ext cx="43180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0" y="4191000"/>
            <a:ext cx="17780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3200" b="1">
                <a:solidFill>
                  <a:srgbClr val="1D5FAF"/>
                </a:solidFill>
                <a:latin typeface="Montserrat"/>
              </a:rPr>
              <a:t>4 234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1500" y="4191000"/>
            <a:ext cx="20955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км пробега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6000" y="5238750"/>
            <a:ext cx="43180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0" y="5238750"/>
            <a:ext cx="17780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3200" b="1">
                <a:solidFill>
                  <a:srgbClr val="1D5FAF"/>
                </a:solidFill>
                <a:latin typeface="Montserrat"/>
              </a:rPr>
              <a:t>0,998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1500" y="5238750"/>
            <a:ext cx="2095500" cy="920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корреляция скорости CSV и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Все 5 этапов ТЗ работают на данных ГЭТ: найдено 13 357 эпизодов, 3 602 из них важные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2032000"/>
            <a:ext cx="2133600" cy="30480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159000"/>
            <a:ext cx="762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400" b="1">
                <a:solidFill>
                  <a:srgbClr val="1D5FA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921000"/>
            <a:ext cx="184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Подготовка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556000"/>
            <a:ext cx="1746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44566C"/>
                </a:solidFill>
                <a:latin typeface="Golos Text"/>
              </a:rPr>
              <a:t>CSV + JSON в одну таблицу, 70+ полей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900" y="4572000"/>
            <a:ext cx="1079500" cy="330200"/>
          </a:xfrm>
          <a:prstGeom prst="roundRect">
            <a:avLst>
              <a:gd name="adj" fmla="val 50000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4572000"/>
            <a:ext cx="10795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FFFFFF"/>
                </a:solidFill>
                <a:latin typeface="Golos Text"/>
              </a:rPr>
              <a:t>сделано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8600" y="2032000"/>
            <a:ext cx="2133600" cy="30480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4500" y="2159000"/>
            <a:ext cx="762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400" b="1">
                <a:solidFill>
                  <a:srgbClr val="1D5FA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4500" y="2921000"/>
            <a:ext cx="184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Разбор эпизода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4500" y="3556000"/>
            <a:ext cx="1746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44566C"/>
                </a:solidFill>
                <a:latin typeface="Golos Text"/>
              </a:rPr>
              <a:t>4 раздела ТЗ, у факта время и 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4500" y="4572000"/>
            <a:ext cx="1079500" cy="330200"/>
          </a:xfrm>
          <a:prstGeom prst="roundRect">
            <a:avLst>
              <a:gd name="adj" fmla="val 50000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4500" y="4572000"/>
            <a:ext cx="10795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FFFFFF"/>
                </a:solidFill>
                <a:latin typeface="Golos Text"/>
              </a:rPr>
              <a:t>сделано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032000"/>
            <a:ext cx="2133600" cy="30480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5100" y="2159000"/>
            <a:ext cx="762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400" b="1">
                <a:solidFill>
                  <a:srgbClr val="1D5FAF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5100" y="2921000"/>
            <a:ext cx="184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Дашборд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5100" y="3556000"/>
            <a:ext cx="1746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44566C"/>
                </a:solidFill>
                <a:latin typeface="Golos Text"/>
              </a:rPr>
              <a:t>единый курсор, карта, частота на 100 км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5100" y="4572000"/>
            <a:ext cx="1079500" cy="330200"/>
          </a:xfrm>
          <a:prstGeom prst="roundRect">
            <a:avLst>
              <a:gd name="adj" fmla="val 50000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5100" y="4572000"/>
            <a:ext cx="10795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FFFFFF"/>
                </a:solidFill>
                <a:latin typeface="Golos Text"/>
              </a:rPr>
              <a:t>сделано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9800" y="2032000"/>
            <a:ext cx="2133600" cy="30480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5700" y="2159000"/>
            <a:ext cx="762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400" b="1">
                <a:solidFill>
                  <a:srgbClr val="1D5FA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5700" y="2921000"/>
            <a:ext cx="184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2D-реконструкция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5700" y="3556000"/>
            <a:ext cx="1746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44566C"/>
                </a:solidFill>
                <a:latin typeface="Golos Text"/>
              </a:rPr>
              <a:t>плеер 1-8×, переход к срабатыванию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5700" y="4572000"/>
            <a:ext cx="1079500" cy="330200"/>
          </a:xfrm>
          <a:prstGeom prst="roundRect">
            <a:avLst>
              <a:gd name="adj" fmla="val 50000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5700" y="4572000"/>
            <a:ext cx="10795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FFFFFF"/>
                </a:solidFill>
                <a:latin typeface="Golos Text"/>
              </a:rPr>
              <a:t>сделано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0400" y="2032000"/>
            <a:ext cx="2133600" cy="3048000"/>
          </a:xfrm>
          <a:prstGeom prst="roundRect">
            <a:avLst>
              <a:gd name="adj" fmla="val 7142"/>
            </a:avLst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6300" y="2159000"/>
            <a:ext cx="762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400" b="1">
                <a:solidFill>
                  <a:srgbClr val="1D5FAF"/>
                </a:solidFill>
                <a:latin typeface="Montserra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6300" y="2921000"/>
            <a:ext cx="184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3D-реконструкция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6300" y="3556000"/>
            <a:ext cx="174625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44566C"/>
                </a:solidFill>
                <a:latin typeface="Golos Text"/>
              </a:rPr>
              <a:t>едет по записи; объект стоит условно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66300" y="4572000"/>
            <a:ext cx="12065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6300" y="4572000"/>
            <a:ext cx="12065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C2410C"/>
                </a:solidFill>
                <a:latin typeface="Golos Text"/>
              </a:rPr>
              <a:t>частично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8000" y="5270500"/>
            <a:ext cx="11176000" cy="101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0" y="5397500"/>
            <a:ext cx="2032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400" b="1">
                <a:solidFill>
                  <a:srgbClr val="1D5FAF"/>
                </a:solidFill>
                <a:latin typeface="Montserrat"/>
              </a:rPr>
              <a:t>7 244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58293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0">
                <a:solidFill>
                  <a:srgbClr val="44566C"/>
                </a:solidFill>
                <a:latin typeface="Golos Text"/>
              </a:rPr>
              <a:t>ограничение скорости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2750" y="5397500"/>
            <a:ext cx="2032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400" b="1">
                <a:solidFill>
                  <a:srgbClr val="1D5FAF"/>
                </a:solidFill>
                <a:latin typeface="Montserrat"/>
              </a:rPr>
              <a:t>3 099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52750" y="58293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0">
                <a:solidFill>
                  <a:srgbClr val="44566C"/>
                </a:solidFill>
                <a:latin typeface="Golos Text"/>
              </a:rPr>
              <a:t>препятствие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3500" y="5397500"/>
            <a:ext cx="2032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400" b="1">
                <a:solidFill>
                  <a:srgbClr val="1D5FAF"/>
                </a:solidFill>
                <a:latin typeface="Montserrat"/>
              </a:rPr>
              <a:t>2 597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3500" y="58293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0">
                <a:solidFill>
                  <a:srgbClr val="44566C"/>
                </a:solidFill>
                <a:latin typeface="Golos Text"/>
              </a:rPr>
              <a:t>светофор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4250" y="5397500"/>
            <a:ext cx="2032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400" b="1">
                <a:solidFill>
                  <a:srgbClr val="1D5FAF"/>
                </a:solidFill>
                <a:latin typeface="Montserrat"/>
              </a:rPr>
              <a:t>345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250" y="58293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0">
                <a:solidFill>
                  <a:srgbClr val="44566C"/>
                </a:solidFill>
                <a:latin typeface="Golos Text"/>
              </a:rPr>
              <a:t>экстренное торможение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5000" y="5397500"/>
            <a:ext cx="2032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2400" b="1">
                <a:solidFill>
                  <a:srgbClr val="1D5FAF"/>
                </a:solidFill>
                <a:latin typeface="Montserrat"/>
              </a:rPr>
              <a:t>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5000" y="58293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0">
                <a:solidFill>
                  <a:srgbClr val="44566C"/>
                </a:solidFill>
                <a:latin typeface="Golos Text"/>
              </a:rPr>
              <a:t>юз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Каждый факт разбора привязан к секунде и полю данных; ИИ только пересказывает эти факты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1905000"/>
            <a:ext cx="38100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0955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1D5FAF"/>
                </a:solidFill>
                <a:latin typeface="Montserrat"/>
              </a:rPr>
              <a:t>1. Факты собирает код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03500"/>
            <a:ext cx="952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1">
                <a:solidFill>
                  <a:srgbClr val="1D5FAF"/>
                </a:solidFill>
                <a:latin typeface="Golos Text"/>
              </a:rPr>
              <a:t>22:28:46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250" y="260350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водитель перевёл рукоятку в торможение (-5)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6250" y="3365500"/>
            <a:ext cx="238125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поле: handle_driver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778250"/>
            <a:ext cx="952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1">
                <a:solidFill>
                  <a:srgbClr val="1D5FAF"/>
                </a:solidFill>
                <a:latin typeface="Golos Text"/>
              </a:rPr>
              <a:t>22:28:47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250" y="377825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подсистема препятствий запросила воздействие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250" y="4540250"/>
            <a:ext cx="238125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поле: danger_act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953000"/>
            <a:ext cx="952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1">
                <a:solidFill>
                  <a:srgbClr val="1D5FAF"/>
                </a:solidFill>
                <a:latin typeface="Golos Text"/>
              </a:rPr>
              <a:t>22:28:48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250" y="495300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включён аварийный тормоз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250" y="5715000"/>
            <a:ext cx="238125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поле: brake_crash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5000" y="3810000"/>
            <a:ext cx="508000" cy="508000"/>
          </a:xfrm>
          <a:prstGeom prst="rightArrow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0000" y="1905000"/>
            <a:ext cx="38100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20955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1">
                <a:solidFill>
                  <a:srgbClr val="1D5FAF"/>
                </a:solidFill>
                <a:latin typeface="Montserrat"/>
              </a:rPr>
              <a:t>2. Модель пересказывает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0" y="2603500"/>
            <a:ext cx="3302000" cy="279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«В 22:28:47 подсистема обнаружения препятствий запросила и применила воздействие при 9.5 км/ч, рукоятка ассистента -6 (</a:t>
            </a:r>
            <a:r>
              <a:rPr sz="1500" b="1">
                <a:solidFill>
                  <a:srgbClr val="0D2B4E"/>
                </a:solidFill>
                <a:latin typeface="Golos Text"/>
              </a:rPr>
              <a:t>danger_act, danger_real, handle_assistant</a:t>
            </a:r>
            <a:r>
              <a:rPr sz="1500" b="0">
                <a:solidFill>
                  <a:srgbClr val="0D2B4E"/>
                </a:solidFill>
                <a:latin typeface="Golos Text"/>
              </a:rPr>
              <a:t>)»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5588000"/>
            <a:ext cx="3302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100" b="0">
                <a:solidFill>
                  <a:srgbClr val="44566C"/>
                </a:solidFill>
                <a:latin typeface="Golos Text"/>
              </a:rPr>
              <a:t>ИИ-разбор этого эпизода, DeepSeek через OpenRouter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905000"/>
            <a:ext cx="2540000" cy="20955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6250" y="1905000"/>
            <a:ext cx="2127250" cy="2095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Причина только при подтверждающем поле, иначе «не установлена»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27500"/>
            <a:ext cx="2540000" cy="2095500"/>
          </a:xfrm>
          <a:prstGeom prst="roundRect">
            <a:avLst>
              <a:gd name="adj" fmla="val 7272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6250" y="4127500"/>
            <a:ext cx="2127250" cy="2095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Текст расходится с фактами? Верим фактам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Демо: от всего парка к одной секунде эпизода за 2 минуты</a:t>
            </a:r>
          </a:p>
        </p:txBody>
      </p:sp>
      <p:sp>
        <p:nvSpPr>
          <p:cNvPr id="6" name="Oval 5"/>
          <p:cNvSpPr/>
          <p:nvPr/>
        </p:nvSpPr>
        <p:spPr>
          <a:xfrm>
            <a:off x="508000" y="1676400"/>
            <a:ext cx="457200" cy="457200"/>
          </a:xfrm>
          <a:prstGeom prst="ellipse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875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1500" b="1">
                <a:solidFill>
                  <a:srgbClr val="0D2B4E"/>
                </a:solidFill>
                <a:latin typeface="Golos Text"/>
              </a:rPr>
              <a:t>«Обзор»</a:t>
            </a:r>
          </a:p>
          <a:p>
            <a:pPr algn="l">
              <a:lnSpc>
                <a:spcPct val="96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парк, карта, частота на 100 км</a:t>
            </a:r>
          </a:p>
        </p:txBody>
      </p:sp>
      <p:sp>
        <p:nvSpPr>
          <p:cNvPr id="8" name="Oval 7"/>
          <p:cNvSpPr/>
          <p:nvPr/>
        </p:nvSpPr>
        <p:spPr>
          <a:xfrm>
            <a:off x="508000" y="2425700"/>
            <a:ext cx="457200" cy="457200"/>
          </a:xfrm>
          <a:prstGeom prst="ellipse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368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1500" b="1">
                <a:solidFill>
                  <a:srgbClr val="0D2B4E"/>
                </a:solidFill>
                <a:latin typeface="Golos Text"/>
              </a:rPr>
              <a:t>«С чего начать разбор»</a:t>
            </a:r>
          </a:p>
          <a:p>
            <a:pPr algn="l">
              <a:lnSpc>
                <a:spcPct val="96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верхний эпизод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3175000"/>
            <a:ext cx="457200" cy="457200"/>
          </a:xfrm>
          <a:prstGeom prst="ellipse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861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1500" b="1">
                <a:solidFill>
                  <a:srgbClr val="0D2B4E"/>
                </a:solidFill>
                <a:latin typeface="Golos Text"/>
              </a:rPr>
              <a:t>Время факта 22:28:47</a:t>
            </a:r>
          </a:p>
          <a:p>
            <a:pPr algn="l">
              <a:lnSpc>
                <a:spcPct val="96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общий курсор</a:t>
            </a:r>
          </a:p>
        </p:txBody>
      </p:sp>
      <p:sp>
        <p:nvSpPr>
          <p:cNvPr id="12" name="Oval 11"/>
          <p:cNvSpPr/>
          <p:nvPr/>
        </p:nvSpPr>
        <p:spPr>
          <a:xfrm>
            <a:off x="508000" y="3924300"/>
            <a:ext cx="457200" cy="457200"/>
          </a:xfrm>
          <a:prstGeom prst="ellipse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354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1500" b="1">
                <a:solidFill>
                  <a:srgbClr val="0D2B4E"/>
                </a:solidFill>
                <a:latin typeface="Golos Text"/>
              </a:rPr>
              <a:t>«2D», «К срабатыванию»</a:t>
            </a:r>
          </a:p>
          <a:p>
            <a:pPr algn="l">
              <a:lnSpc>
                <a:spcPct val="96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плюс «Скачать ролик»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4673600"/>
            <a:ext cx="457200" cy="457200"/>
          </a:xfrm>
          <a:prstGeom prst="ellipse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847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1500" b="1">
                <a:solidFill>
                  <a:srgbClr val="0D2B4E"/>
                </a:solidFill>
                <a:latin typeface="Golos Text"/>
              </a:rPr>
              <a:t>«ИИ-анализ»</a:t>
            </a:r>
          </a:p>
          <a:p>
            <a:pPr algn="l">
              <a:lnSpc>
                <a:spcPct val="96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Jev и разбор</a:t>
            </a:r>
          </a:p>
        </p:txBody>
      </p:sp>
      <p:sp>
        <p:nvSpPr>
          <p:cNvPr id="16" name="Oval 15"/>
          <p:cNvSpPr/>
          <p:nvPr/>
        </p:nvSpPr>
        <p:spPr>
          <a:xfrm>
            <a:off x="508000" y="5422900"/>
            <a:ext cx="457200" cy="457200"/>
          </a:xfrm>
          <a:prstGeom prst="ellipse">
            <a:avLst/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340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1500" b="1">
                <a:solidFill>
                  <a:srgbClr val="0D2B4E"/>
                </a:solidFill>
                <a:latin typeface="Golos Text"/>
              </a:rPr>
              <a:t>«Как пользоваться», EN</a:t>
            </a:r>
          </a:p>
          <a:p>
            <a:pPr algn="l">
              <a:lnSpc>
                <a:spcPct val="96000"/>
              </a:lnSpc>
            </a:pPr>
            <a:r>
              <a:rPr sz="1500" b="0">
                <a:solidFill>
                  <a:srgbClr val="0D2B4E"/>
                </a:solidFill>
                <a:latin typeface="Golos Text"/>
              </a:rPr>
              <a:t>инструкция</a:t>
            </a:r>
          </a:p>
        </p:txBody>
      </p:sp>
      <p:pic>
        <p:nvPicPr>
          <p:cNvPr id="18" name="Picture 17" descr="overview_1120_250_720x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587500"/>
            <a:ext cx="4572000" cy="28575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7112000" y="4699000"/>
            <a:ext cx="4572000" cy="1397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6000" y="4699000"/>
            <a:ext cx="4127500" cy="1397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600" b="1">
                <a:solidFill>
                  <a:srgbClr val="0D2B4E"/>
                </a:solidFill>
                <a:latin typeface="Montserrat"/>
              </a:rPr>
              <a:t>Если демо сломалось: запасные слайды B1-B5, те же шаги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Чего нет в данных, разбор говорит прямо: ограничения выводятся в каждом эпизоде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203200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000" y="2032000"/>
            <a:ext cx="88900" cy="127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032000"/>
            <a:ext cx="5842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0D2B4E"/>
                </a:solidFill>
                <a:latin typeface="Golos Text"/>
              </a:rPr>
              <a:t>Нет дистанции до объекта</a:t>
            </a:r>
          </a:p>
          <a:p>
            <a:pPr algn="l">
              <a:lnSpc>
                <a:spcPct val="104000"/>
              </a:lnSpc>
            </a:pPr>
            <a:r>
              <a:rPr sz="1600" b="0">
                <a:solidFill>
                  <a:srgbClr val="0D2B4E"/>
                </a:solidFill>
                <a:latin typeface="Golos Text"/>
              </a:rPr>
              <a:t>объект на сцене стоит условно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" y="346075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3460750"/>
            <a:ext cx="88900" cy="127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" y="3460750"/>
            <a:ext cx="5842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0D2B4E"/>
                </a:solidFill>
                <a:latin typeface="Golos Text"/>
              </a:rPr>
              <a:t>Время в CSV до 1 с, шаг до 5-7 с</a:t>
            </a:r>
          </a:p>
          <a:p>
            <a:pPr algn="l">
              <a:lnSpc>
                <a:spcPct val="104000"/>
              </a:lnSpc>
            </a:pPr>
            <a:r>
              <a:rPr sz="1600" b="0">
                <a:solidFill>
                  <a:srgbClr val="0D2B4E"/>
                </a:solidFill>
                <a:latin typeface="Golos Text"/>
              </a:rPr>
              <a:t>порядок внутри секунды не установлен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889500"/>
            <a:ext cx="6350000" cy="12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000" y="4889500"/>
            <a:ext cx="88900" cy="127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00" y="4889500"/>
            <a:ext cx="5842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0D2B4E"/>
                </a:solidFill>
                <a:latin typeface="Golos Text"/>
              </a:rPr>
              <a:t>JSON у части поездок только за первый день</a:t>
            </a:r>
          </a:p>
          <a:p>
            <a:pPr algn="l">
              <a:lnSpc>
                <a:spcPct val="104000"/>
              </a:lnSpc>
            </a:pPr>
            <a:r>
              <a:rPr sz="1600" b="0">
                <a:solidFill>
                  <a:srgbClr val="0D2B4E"/>
                </a:solidFill>
                <a:latin typeface="Golos Text"/>
              </a:rPr>
              <a:t>тип объекта и предупреждение там неизвестны</a:t>
            </a:r>
          </a:p>
        </p:txBody>
      </p:sp>
      <p:pic>
        <p:nvPicPr>
          <p:cNvPr id="15" name="Picture 14" descr="facts_limits_1140_320_700x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2032000"/>
            <a:ext cx="4445000" cy="24003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239000" y="4572000"/>
            <a:ext cx="444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Раздел «Ограничения анализа», вагон 3139, 17.09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НТУ «Сириус» | Хакатон ГЭТ: ИИ-разбор эпизодов АБПВ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413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200" b="0">
                <a:solidFill>
                  <a:srgbClr val="44566C"/>
                </a:solidFill>
                <a:latin typeface="Golos Text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985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</a:pPr>
            <a:r>
              <a:rPr sz="2700" b="1">
                <a:solidFill>
                  <a:srgbClr val="0D2B4E"/>
                </a:solidFill>
                <a:latin typeface="Montserrat"/>
              </a:rPr>
              <a:t>Сервис готов к пилоту: загрузите CSV поездки, и эпизоды появятся по мере нахождения</a:t>
            </a:r>
          </a:p>
        </p:txBody>
      </p:sp>
      <p:pic>
        <p:nvPicPr>
          <p:cNvPr id="6" name="Picture 5" descr="upload_80_320_1000x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32000"/>
            <a:ext cx="6350000" cy="30480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112000" y="2032000"/>
            <a:ext cx="2222500" cy="146050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02500" y="21907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1D5FAF"/>
                </a:solidFill>
                <a:latin typeface="Montserrat"/>
              </a:rPr>
              <a:t>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0" y="2635250"/>
            <a:ext cx="184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ярлык, всё локально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1500" y="2032000"/>
            <a:ext cx="2222500" cy="146050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0" y="21907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1D5FAF"/>
                </a:solidFill>
                <a:latin typeface="Montserrat"/>
              </a:rPr>
              <a:t>RU и 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0" y="2635250"/>
            <a:ext cx="184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весь интерфейс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2000" y="3619500"/>
            <a:ext cx="2222500" cy="146050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2500" y="37782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1D5FAF"/>
                </a:solidFill>
                <a:latin typeface="Montserrat"/>
              </a:rPr>
              <a:t>6 сценариев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2500" y="4222750"/>
            <a:ext cx="184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во вкладке «Как пользоваться»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1500" y="3619500"/>
            <a:ext cx="2222500" cy="146050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52000" y="37782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1D5FAF"/>
                </a:solidFill>
                <a:latin typeface="Montserrat"/>
              </a:rPr>
              <a:t>Ролик .webm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2000" y="4222750"/>
            <a:ext cx="1841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1400" b="0">
                <a:solidFill>
                  <a:srgbClr val="0D2B4E"/>
                </a:solidFill>
                <a:latin typeface="Golos Text"/>
              </a:rPr>
              <a:t>эпизода по телеметрии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000" y="5334000"/>
            <a:ext cx="11176000" cy="952500"/>
          </a:xfrm>
          <a:prstGeom prst="roundRect">
            <a:avLst>
              <a:gd name="adj" fmla="val 13333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" y="5334000"/>
            <a:ext cx="1054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Просим у ГЭТ: выгрузку с дистанцией до объекта и видео с метками времени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Запасной слайд для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279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300" b="1">
                <a:solidFill>
                  <a:srgbClr val="44566C"/>
                </a:solidFill>
                <a:latin typeface="Golos Text"/>
              </a:rPr>
              <a:t>B1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1">
                <a:solidFill>
                  <a:srgbClr val="0D2B4E"/>
                </a:solidFill>
                <a:latin typeface="Montserrat"/>
              </a:rPr>
              <a:t>Обзор: 4 234 км, частота на 100 км по вагонам и карта срабатываний</a:t>
            </a:r>
          </a:p>
        </p:txBody>
      </p:sp>
      <p:pic>
        <p:nvPicPr>
          <p:cNvPr id="6" name="Picture 5" descr="overview_80_200_1760x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70000"/>
            <a:ext cx="11176000" cy="53975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Запасной слайд для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279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300" b="1">
                <a:solidFill>
                  <a:srgbClr val="44566C"/>
                </a:solidFill>
                <a:latin typeface="Golos Text"/>
              </a:rPr>
              <a:t>B2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1">
                <a:solidFill>
                  <a:srgbClr val="0D2B4E"/>
                </a:solidFill>
                <a:latin typeface="Montserrat"/>
              </a:rPr>
              <a:t>Эпизод: автомобиль на пути, 27 км/ч до 0, рельсовый и аварийный тормоз</a:t>
            </a:r>
          </a:p>
        </p:txBody>
      </p:sp>
      <p:pic>
        <p:nvPicPr>
          <p:cNvPr id="6" name="Picture 5" descr="episode_cursor_80_200_1760x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70000"/>
            <a:ext cx="11176000" cy="53975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Запасной слайд для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279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300" b="1">
                <a:solidFill>
                  <a:srgbClr val="44566C"/>
                </a:solidFill>
                <a:latin typeface="Golos Text"/>
              </a:rPr>
              <a:t>B3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1">
                <a:solidFill>
                  <a:srgbClr val="0D2B4E"/>
                </a:solidFill>
                <a:latin typeface="Montserrat"/>
              </a:rPr>
              <a:t>2D: скорость и тормоза по записи, курсор общий с фактами</a:t>
            </a:r>
          </a:p>
        </p:txBody>
      </p:sp>
      <p:pic>
        <p:nvPicPr>
          <p:cNvPr id="6" name="Picture 5" descr="episode_2d_view_80_200_1760x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70000"/>
            <a:ext cx="11176000" cy="53975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Запасной слайд для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279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300" b="1">
                <a:solidFill>
                  <a:srgbClr val="44566C"/>
                </a:solidFill>
                <a:latin typeface="Golos Text"/>
              </a:rPr>
              <a:t>B4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1">
                <a:solidFill>
                  <a:srgbClr val="0D2B4E"/>
                </a:solidFill>
                <a:latin typeface="Montserrat"/>
              </a:rPr>
              <a:t>«ИИ-анализ»: Jev ставит в очередь, разбор пересказывает факты с полями</a:t>
            </a:r>
          </a:p>
        </p:txBody>
      </p:sp>
      <p:pic>
        <p:nvPicPr>
          <p:cNvPr id="6" name="Picture 5" descr="ai_panel_80_200_1760x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70000"/>
            <a:ext cx="11176000" cy="53975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000" y="279400"/>
            <a:ext cx="88900" cy="254000"/>
          </a:xfrm>
          <a:prstGeom prst="roundRect">
            <a:avLst>
              <a:gd name="adj" fmla="val 21428"/>
            </a:avLst>
          </a:prstGeom>
          <a:solidFill>
            <a:srgbClr val="1D5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2794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0D2B4E"/>
                </a:solidFill>
                <a:latin typeface="Montserrat"/>
              </a:rPr>
              <a:t>Запасной слайд для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279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98000"/>
              </a:lnSpc>
            </a:pPr>
            <a:r>
              <a:rPr sz="1300" b="1">
                <a:solidFill>
                  <a:srgbClr val="44566C"/>
                </a:solidFill>
                <a:latin typeface="Golos Text"/>
              </a:rPr>
              <a:t>B5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6350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8000"/>
              </a:lnSpc>
            </a:pPr>
            <a:r>
              <a:rPr sz="1900" b="1">
                <a:solidFill>
                  <a:srgbClr val="0D2B4E"/>
                </a:solidFill>
                <a:latin typeface="Montserrat"/>
              </a:rPr>
              <a:t>«Как пользоваться»: было и стало, устройство, сценарии</a:t>
            </a:r>
          </a:p>
        </p:txBody>
      </p:sp>
      <p:pic>
        <p:nvPicPr>
          <p:cNvPr id="6" name="Picture 5" descr="guide_80_200_1760x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70000"/>
            <a:ext cx="11176000" cy="5397500"/>
          </a:xfrm>
          <a:prstGeom prst="rect">
            <a:avLst/>
          </a:prstGeom>
          <a:ln w="12700">
            <a:solidFill>
              <a:srgbClr val="B9CFE6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